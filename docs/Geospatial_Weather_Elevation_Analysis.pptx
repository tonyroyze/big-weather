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Warmest and coolest site means (°C)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temperature (°C)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Chennai</c:v>
                  </c:pt>
                  <c:pt idx="1">
                    <c:v>Madurai</c:v>
                  </c:pt>
                  <c:pt idx="2">
                    <c:v>Batticaloa</c:v>
                  </c:pt>
                  <c:pt idx="3">
                    <c:v>Dingboche (4,321 m)</c:v>
                  </c:pt>
                  <c:pt idx="4">
                    <c:v>Nathu La (4,298 m)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31.04</c:v>
                </c:pt>
                <c:pt idx="1">
                  <c:v>30.68</c:v>
                </c:pt>
                <c:pt idx="2">
                  <c:v>30.44</c:v>
                </c:pt>
                <c:pt idx="3">
                  <c:v>7.66</c:v>
                </c:pt>
                <c:pt idx="4">
                  <c:v>6.27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Highest rainfall totals, 5 May–31 Aug 2026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Lachen</c:v>
                  </c:pt>
                  <c:pt idx="1">
                    <c:v>Sylhet</c:v>
                  </c:pt>
                  <c:pt idx="2">
                    <c:v>Pokhara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3387.2</c:v>
                </c:pt>
                <c:pt idx="1">
                  <c:v>3147.4</c:v>
                </c:pt>
                <c:pt idx="2">
                  <c:v>3108.1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Windiest sites vs. all-site mean (m/s)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Jaffna</c:v>
                  </c:pt>
                  <c:pt idx="1">
                    <c:v>Mannar</c:v>
                  </c:pt>
                  <c:pt idx="2">
                    <c:v>Trincomalee</c:v>
                  </c:pt>
                  <c:pt idx="3">
                    <c:v>All-site mean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7.92</c:v>
                </c:pt>
                <c:pt idx="1">
                  <c:v>7.79</c:v>
                </c:pt>
                <c:pt idx="2">
                  <c:v>6.21</c:v>
                </c:pt>
                <c:pt idx="3">
                  <c:v>2.47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Mean temperature, sampled sites (°C)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Bhutan sites</c:v>
                </c:pt>
              </c:strCache>
            </c:strRef>
          </c:tx>
          <c:spPr>
            <a:solidFill>
              <a:srgbClr val="8FB4DA"/>
            </a:solidFill>
            <a:ln w="38100" cap="flat">
              <a:solidFill>
                <a:srgbClr val="8FB4D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FB4DA"/>
              </a:solidFill>
              <a:ln w="9525" cap="flat">
                <a:solidFill>
                  <a:srgbClr val="8FB4D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May (5–31)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15.73</c:v>
                </c:pt>
                <c:pt idx="1">
                  <c:v>19.19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Cambodia sites</c:v>
                </c:pt>
              </c:strCache>
            </c:strRef>
          </c:tx>
          <c:spPr>
            <a:solidFill>
              <a:srgbClr val="A9B0B8"/>
            </a:solidFill>
            <a:ln w="38100" cap="flat">
              <a:solidFill>
                <a:srgbClr val="A9B0B8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A9B0B8"/>
              </a:solidFill>
              <a:ln w="9525" cap="flat">
                <a:solidFill>
                  <a:srgbClr val="A9B0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May (5–31)</c:v>
                  </c:pt>
                  <c:pt idx="1">
                    <c:v>August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24.15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10"/>
        </c:scaling>
        <c:delete val="0"/>
        <c:axPos val="l"/>
        <c:majorGridlines>
          <c:spPr>
            <a:ln w="6350" cap="flat">
              <a:solidFill>
                <a:srgbClr val="2235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8DC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Pearson r by sample (same 119 days)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Pearson r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+0.000;−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All 100 sites</c:v>
                  </c:pt>
                  <c:pt idx="1">
                    <c:v>Sri Lanka (30)</c:v>
                  </c:pt>
                  <c:pt idx="2">
                    <c:v>Coastal (6)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-0.981</c:v>
                </c:pt>
                <c:pt idx="1">
                  <c:v>-0.965</c:v>
                </c:pt>
                <c:pt idx="2">
                  <c:v>0.685</c:v>
                </c:pt>
              </c:numCache>
            </c:numRef>
          </c:val>
        </c:ser>
        <c:dLbls>
          <c:numFmt formatCode="+0.000;−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E1A2B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2235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Pearson correlation r, regional vs. Sri Lanka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 100 sites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+0.000;−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Elevation – temperature</c:v>
                  </c:pt>
                  <c:pt idx="1">
                    <c:v>Latitude – temperature</c:v>
                  </c:pt>
                  <c:pt idx="2">
                    <c:v>Elevation – rainfall</c:v>
                  </c:pt>
                  <c:pt idx="3">
                    <c:v>Elevation – wind speed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-0.981</c:v>
                </c:pt>
                <c:pt idx="1">
                  <c:v>-0.315</c:v>
                </c:pt>
                <c:pt idx="2">
                  <c:v>0.337</c:v>
                </c:pt>
                <c:pt idx="3">
                  <c:v>-0.506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Sri Lanka (30)</c:v>
                </c:pt>
              </c:strCache>
            </c:strRef>
          </c:tx>
          <c:spPr>
            <a:solidFill>
              <a:srgbClr val="A9B0B8"/>
            </a:solidFill>
            <a:effectLst/>
          </c:spPr>
          <c:invertIfNegative val="0"/>
          <c:dLbls>
            <c:numFmt formatCode="+0.000;−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1A2B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Elevation – temperature</c:v>
                  </c:pt>
                  <c:pt idx="1">
                    <c:v>Latitude – temperature</c:v>
                  </c:pt>
                  <c:pt idx="2">
                    <c:v>Elevation – rainfall</c:v>
                  </c:pt>
                  <c:pt idx="3">
                    <c:v>Elevation – wind speed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-0.965</c:v>
                </c:pt>
                <c:pt idx="1">
                  <c:v>0.425</c:v>
                </c:pt>
                <c:pt idx="2">
                  <c:v>0.285</c:v>
                </c:pt>
                <c:pt idx="3">
                  <c:v>-0.531</c:v>
                </c:pt>
              </c:numCache>
            </c:numRef>
          </c:val>
        </c:ser>
        <c:dLbls>
          <c:numFmt formatCode="+0.000;−0.000" sourceLinked="0"/>
          <c:txPr>
            <a:bodyPr/>
            <a:lstStyle/>
            <a:p>
              <a:pPr>
                <a:defRPr b="0" i="0" strike="noStrike" sz="900" u="none">
                  <a:solidFill>
                    <a:srgbClr val="0E1A2B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6350" cap="flat">
              <a:solidFill>
                <a:srgbClr val="2235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D8DCE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Mean annual rainfall, 2020–2025 (mm)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rainfall</c:v>
                </c:pt>
              </c:strCache>
            </c:strRef>
          </c:tx>
          <c:spPr>
            <a:solidFill>
              <a:srgbClr val="8FB4D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Galle</c:v>
                  </c:pt>
                  <c:pt idx="1">
                    <c:v>Colombo</c:v>
                  </c:pt>
                  <c:pt idx="2">
                    <c:v>Matara</c:v>
                  </c:pt>
                  <c:pt idx="3">
                    <c:v>Trincomalee</c:v>
                  </c:pt>
                  <c:pt idx="4">
                    <c:v>Jaffna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2770.9</c:v>
                </c:pt>
                <c:pt idx="1">
                  <c:v>2728.1</c:v>
                </c:pt>
                <c:pt idx="2">
                  <c:v>2249.7</c:v>
                </c:pt>
                <c:pt idx="3">
                  <c:v>1556.2</c:v>
                </c:pt>
                <c:pt idx="4">
                  <c:v>1502.7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8DC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9B0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regional weather and elevation study covering 100 fixed sites in Sri Lanka and nearby South and Southeast Asia, built on 47 hourly variables from Open-Meteo ERA5-Seamless.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of the four sections.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matters: users need to select weather features, locations and dates, know whether data exists, obtain missing observations within source limits, and inspect results. That is a data volume, quality and access problem, which is why a big data pipeline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are taken directly from the report. Stress that the analysis is descriptive, not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 coordinates and terrain elevation are kept separately from the grid coordinates and elevation returned by the weather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seven steps. Emphasise that ingestion and validation happen before any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imputation or outlier removal was performed; incomplete days are left null.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47 numeric weather fields were checked separately from partition metadata. Snow is real in the mountain sites, so it stays.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the coolest sites are also the highest ones. Keep that in mind for the elevation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Ratio: 6.21/2.47 ≈ 2.5 and 7.92/2.47 ≈ 3.2, computed from the reported means.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monthly chart (img/replicated_monthly_temperature.png) can be added as a backup slide. May is partial; June, July and August are complete. Differences 3.46 and 1.85 are computed from the reported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Caveat: Open-Meteo uses elevation in its statistical downscaling, so part of this association may come from how the data product is built. Treat it as a descriptive pattern, not a measured lapse 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Relationships depend on which countries, elevations and climate regimes are in the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method explanations short; focus on what each one answered.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Batticaloa's annual total is not reported separately. These annual figures come from complete years only and are kept apart from the 2026 regional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Volume is modest; the big data character comes mostly from variety, veracity work and the scalable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Transition: these findings rely on a system that collects, checks and serves the data. Next, how we built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Ingestion and serving are separate roles: ingestion fetches missing observations under the quota; serving only reads validated data. Querying stored data does not fetch missing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dbt tests planned: unique keys, non-null IDs, accepted values, catalogue relationships, timestamp bounds and daily counts. Compared with Databricks-first, Snowflake needs less platform setup for this warehouse workload.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Historical lower bound is 1 Jan 2020; the active backfill is pinned to 31 Aug 2026. Coverage is measured from committed observations, not assumed from earliest and latest dates. The grid is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map service filters and aggregates Parquet through Arrow and returns complete JSON windows. Playback is interactive, but there is no live ingestion, Kafka, WebSocket or server-sent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current prototype queries already-downloaded data. Example suggestions like '12 complete locations' or 'the latest seven complete days' are illustrative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demo uses Codex ChatGPT sign-in for planning and summaries, with an OpenAI API mode. The warehouse design needs an equivalent validated Snowflake query adapter; the Spark path is not a deployed warehouse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local simulation should not be read as a measure of Snowflake performance or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are stated as capabilities of the current system and findings. Each improvement comes from a limitation or open requirement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memorable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0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1" Type="http://schemas.openxmlformats.org/officeDocument/2006/relationships/image" Target="../media/Slide-11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Slide-1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Slide-14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Slide-16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Analytics  |  Project 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Weather and Elevation Analysis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weather, elevation and location data for 100 sites across Sri Lanka and South and Southeast Asia, from ingestion to insight.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83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4983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1.23M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4983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rows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45262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498348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members]   ·   [Course code]   ·   [Institution]   ·   [Date]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822960"/>
            <a:ext cx="4828032" cy="5349240"/>
          </a:xfrm>
          <a:prstGeom prst="roundRect">
            <a:avLst>
              <a:gd name="adj" fmla="val 1515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7086600" y="31775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PLACEHOLDER — PROJECT HERO VISUAL]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543300"/>
            <a:ext cx="4279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3D terrain map from the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project, and why did we do it?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problem, what we set out to build, and the data we used.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F3350"/>
          </a:solidFill>
          <a:ln w="19050">
            <a:solidFill>
              <a:srgbClr val="8FB4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545336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2–5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441448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4414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569464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898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465576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346557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5935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9227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489704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44897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6177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946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26–30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Intro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comparing weather across places and heights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changes sharply from coast to mountain, and the data to show it is large, hourly and uneven.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1890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9842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varies across places and heights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331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spans 100 sites, from 3 m on the coast to 4,321 m in the Himalaya.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264408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538728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67040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54480" y="34655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hourly, wide and incomplete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554480" y="38130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hourly variables per site. Coverage differs by site, and recent reanalysis can be delayed.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745736"/>
            <a:ext cx="493776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7240" y="5020056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5151730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49469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limits what we can download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554480" y="529437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caps how much can be pulled per request, so quota and progress must be tracked.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852160" y="1783080"/>
            <a:ext cx="5788152" cy="2148840"/>
          </a:xfrm>
          <a:prstGeom prst="roundRect">
            <a:avLst>
              <a:gd name="adj" fmla="val 3404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6126480" y="2537460"/>
            <a:ext cx="5239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IMAGE PLACEHOLDER — PROBLEM CONTEXT]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126480" y="290322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site map showing coast-to-mountain spread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852160" y="416052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980176" y="4325112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5980176" y="4818888"/>
            <a:ext cx="1042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weather across places and time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7168896" y="5166360"/>
            <a:ext cx="155448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342632" y="416052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470648" y="4325112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data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7470648" y="4818888"/>
            <a:ext cx="1042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ERA5-Seamless + location + elevation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8659368" y="5166360"/>
            <a:ext cx="155448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8833104" y="416052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961120" y="4325112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analytics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8961120" y="4818888"/>
            <a:ext cx="1042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aggregation, correlation, group tests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10149840" y="5166360"/>
            <a:ext cx="155448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10323576" y="4160520"/>
            <a:ext cx="1298448" cy="2011680"/>
          </a:xfrm>
          <a:prstGeom prst="roundRect">
            <a:avLst>
              <a:gd name="adj" fmla="val 5634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10451592" y="4325112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10451592" y="4818888"/>
            <a:ext cx="10424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features, places and dates; get charts and plain-English answers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Intro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build and ask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engineering objectives, one research question.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9397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ingestion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532888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explicit coverage and quota accounting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977640" y="178308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78808" y="1984248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209397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54880" y="2011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data rules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178808" y="2532888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source; apply the same time and space rules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264408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49808" y="3465576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57530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warehouse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749808" y="4014216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with version-controlled dbt models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977640" y="3264408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78808" y="3465576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357530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754880" y="3493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dashboard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178808" y="4014216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FastAPI queries served to React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745736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49808" y="4946904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5056632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25880" y="49743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Coverage-aware downloads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749808" y="549554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checks, feasible suggestions, on-demand retrieval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3977640" y="4745736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178808" y="4946904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536" y="5056632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754880" y="49743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analysis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4178808" y="5495544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Inspectable queries and evidence-based summaries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7635240" y="1783080"/>
            <a:ext cx="4005072" cy="4443984"/>
          </a:xfrm>
          <a:prstGeom prst="roundRect">
            <a:avLst>
              <a:gd name="adj" fmla="val 1826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909560" y="19659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39" name="Text 31"/>
          <p:cNvSpPr txBox="1"/>
          <p:nvPr/>
        </p:nvSpPr>
        <p:spPr>
          <a:xfrm>
            <a:off x="7909560" y="2286000"/>
            <a:ext cx="34564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weather variables vary with elevation, and how do these relationships change over time?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7909560" y="361188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caveats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7909560" y="3931920"/>
            <a:ext cx="34564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were chosen on purpose; they are not a random sample.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Reanalysis values are model estimates, not station readings.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stay descriptive and account for latitude, geography, sampling and model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Intro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did we need, and where did it come from?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8189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11069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611069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07738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0618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490618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variables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7288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0168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1,230,960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370168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6837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49717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1,901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249717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files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946386" y="1737360"/>
            <a:ext cx="1696669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29266" y="1874520"/>
            <a:ext cx="1330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154.7 MB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0129266" y="2320747"/>
            <a:ext cx="133090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(decimal)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2971800"/>
            <a:ext cx="5120640" cy="3246120"/>
          </a:xfrm>
          <a:prstGeom prst="roundRect">
            <a:avLst>
              <a:gd name="adj" fmla="val 2254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22960" y="42748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[MAP PLACEHOLDER — 100 STUDY SITES]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46405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countries · elevation 3–4,321 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2971800"/>
            <a:ext cx="5745175" cy="3246120"/>
          </a:xfrm>
          <a:prstGeom prst="roundRect">
            <a:avLst>
              <a:gd name="adj" fmla="val 2254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31546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3154680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historical API, ERA5-Seamless (ERA5 + ERA5-Land), UTC timestamps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126480" y="36850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3685032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heights from the Copernicus GLO-90 elevation service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126480" y="4215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69480" y="4215384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with ID, name, country, region, coordinates and elevation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126480" y="474573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4745736"/>
            <a:ext cx="4144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Jan 2020 to 31 Aug 2026 (snapshot of 16 Sep 2026); coverage is not complete for every site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126480" y="5349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groups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26480" y="5623560"/>
            <a:ext cx="1642262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126480" y="5623560"/>
            <a:ext cx="164226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860182" y="5623560"/>
            <a:ext cx="1082650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860182" y="5623560"/>
            <a:ext cx="108265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034272" y="5623560"/>
            <a:ext cx="523037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34272" y="5623560"/>
            <a:ext cx="5230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648749" y="5623560"/>
            <a:ext cx="771754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48749" y="5623560"/>
            <a:ext cx="7717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511942" y="5623560"/>
            <a:ext cx="647395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0511942" y="5623560"/>
            <a:ext cx="6473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5916168"/>
            <a:ext cx="523037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26480" y="5916168"/>
            <a:ext cx="5230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740957" y="5916168"/>
            <a:ext cx="1393546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40957" y="5916168"/>
            <a:ext cx="13935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Evapotranspiration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225942" y="5916168"/>
            <a:ext cx="833933" cy="237744"/>
          </a:xfrm>
          <a:prstGeom prst="roundRect">
            <a:avLst>
              <a:gd name="adj" fmla="val 50000"/>
            </a:avLst>
          </a:prstGeom>
          <a:solidFill>
            <a:srgbClr val="1F3350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225942" y="5916168"/>
            <a:ext cx="83393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findings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prepare the data, and what did it show?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quality rules, a fair comparison window, the patterns we found, and what they mean.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545336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2–5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441448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F3350"/>
          </a:solidFill>
          <a:ln w="19050">
            <a:solidFill>
              <a:srgbClr val="8FB4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4414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569464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898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465576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346557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5935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9227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489704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44897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6177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946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26–30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analytical workflow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feeds the next, and each one is checked before moving on.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9264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938" y="241767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76656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study plan defines the expected coverage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965960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2166061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30653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86685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8359" y="2417674"/>
            <a:ext cx="285293" cy="28529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257501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2294077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7-day windows first, across all sites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583381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3783482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48074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204106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5780" y="2417674"/>
            <a:ext cx="285293" cy="285293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874922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3911498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keys, every hour once, checksums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200802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5400904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565496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821528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201" y="2417674"/>
            <a:ext cx="285293" cy="28529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492344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5528920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location and elevation metadata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818224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5" name="Shape 29"/>
          <p:cNvSpPr/>
          <p:nvPr/>
        </p:nvSpPr>
        <p:spPr>
          <a:xfrm>
            <a:off x="7018325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182917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438949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0622" y="2417674"/>
            <a:ext cx="285293" cy="285293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109765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40" name="Text 33"/>
          <p:cNvSpPr txBox="1"/>
          <p:nvPr/>
        </p:nvSpPr>
        <p:spPr>
          <a:xfrm>
            <a:off x="7146341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Complete-day rule: hourly to daily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8435645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8635746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800338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9056370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8044" y="2417674"/>
            <a:ext cx="285293" cy="285293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727186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47" name="Text 39"/>
          <p:cNvSpPr txBox="1"/>
          <p:nvPr/>
        </p:nvSpPr>
        <p:spPr>
          <a:xfrm>
            <a:off x="8763762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comparisons, correlations, group tests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10053066" y="2560320"/>
            <a:ext cx="172669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10253167" y="1874520"/>
            <a:ext cx="1389888" cy="2423160"/>
          </a:xfrm>
          <a:prstGeom prst="roundRect">
            <a:avLst>
              <a:gd name="adj" fmla="val 52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10417759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10673791" y="2286000"/>
            <a:ext cx="548640" cy="54864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5465" y="2417674"/>
            <a:ext cx="285293" cy="285293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344607" y="297180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500" dirty="0"/>
          </a:p>
        </p:txBody>
      </p:sp>
      <p:sp>
        <p:nvSpPr>
          <p:cNvPr id="54" name="Text 45"/>
          <p:cNvSpPr txBox="1"/>
          <p:nvPr/>
        </p:nvSpPr>
        <p:spPr>
          <a:xfrm>
            <a:off x="10381183" y="3337560"/>
            <a:ext cx="1133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map dashboard, Ask weather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548640" y="4572000"/>
            <a:ext cx="3576218" cy="1645920"/>
          </a:xfrm>
          <a:prstGeom prst="roundRect">
            <a:avLst>
              <a:gd name="adj" fmla="val 4444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56" name="Shape 47"/>
          <p:cNvSpPr/>
          <p:nvPr/>
        </p:nvSpPr>
        <p:spPr>
          <a:xfrm>
            <a:off x="749808" y="4773168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147" y="4878507"/>
            <a:ext cx="228234" cy="228234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1325880" y="4828032"/>
            <a:ext cx="2616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Cross-engine check</a:t>
            </a:r>
            <a:endParaRPr lang="en-US" sz="1400" dirty="0"/>
          </a:p>
        </p:txBody>
      </p:sp>
      <p:sp>
        <p:nvSpPr>
          <p:cNvPr id="59" name="Text 49"/>
          <p:cNvSpPr txBox="1"/>
          <p:nvPr/>
        </p:nvSpPr>
        <p:spPr>
          <a:xfrm>
            <a:off x="749808" y="5349240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Spark run reconciles the aggregation rules and produces consistent outputs.</a:t>
            </a:r>
            <a:endParaRPr lang="en-US" sz="1150" dirty="0"/>
          </a:p>
        </p:txBody>
      </p:sp>
      <p:sp>
        <p:nvSpPr>
          <p:cNvPr id="60" name="Shape 50"/>
          <p:cNvSpPr/>
          <p:nvPr/>
        </p:nvSpPr>
        <p:spPr>
          <a:xfrm>
            <a:off x="4307738" y="4572000"/>
            <a:ext cx="3576218" cy="1645920"/>
          </a:xfrm>
          <a:prstGeom prst="roundRect">
            <a:avLst>
              <a:gd name="adj" fmla="val 4444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61" name="Shape 51"/>
          <p:cNvSpPr/>
          <p:nvPr/>
        </p:nvSpPr>
        <p:spPr>
          <a:xfrm>
            <a:off x="4508906" y="4773168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245" y="4878507"/>
            <a:ext cx="228234" cy="228234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5084978" y="4828032"/>
            <a:ext cx="2616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Resumable by design</a:t>
            </a:r>
            <a:endParaRPr lang="en-US" sz="1400" dirty="0"/>
          </a:p>
        </p:txBody>
      </p:sp>
      <p:sp>
        <p:nvSpPr>
          <p:cNvPr id="64" name="Text 53"/>
          <p:cNvSpPr txBox="1"/>
          <p:nvPr/>
        </p:nvSpPr>
        <p:spPr>
          <a:xfrm>
            <a:off x="4508906" y="5349240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committed chunk carries request metadata and a checksum, so interrupted runs resume safely.</a:t>
            </a:r>
            <a:endParaRPr lang="en-US" sz="1150" dirty="0"/>
          </a:p>
        </p:txBody>
      </p:sp>
      <p:sp>
        <p:nvSpPr>
          <p:cNvPr id="65" name="Shape 54"/>
          <p:cNvSpPr/>
          <p:nvPr/>
        </p:nvSpPr>
        <p:spPr>
          <a:xfrm>
            <a:off x="8066837" y="4572000"/>
            <a:ext cx="3576218" cy="1645920"/>
          </a:xfrm>
          <a:prstGeom prst="roundRect">
            <a:avLst>
              <a:gd name="adj" fmla="val 4444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8268005" y="4773168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3344" y="4878507"/>
            <a:ext cx="228234" cy="228234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8844077" y="4828032"/>
            <a:ext cx="2616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evidence</a:t>
            </a:r>
            <a:endParaRPr lang="en-US" sz="1400" dirty="0"/>
          </a:p>
        </p:txBody>
      </p:sp>
      <p:sp>
        <p:nvSpPr>
          <p:cNvPr id="69" name="Text 57"/>
          <p:cNvSpPr txBox="1"/>
          <p:nvPr/>
        </p:nvSpPr>
        <p:spPr>
          <a:xfrm>
            <a:off x="8268005" y="5349240"/>
            <a:ext cx="31738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in scripts/; results, source hashes and versions in reports/replication/. Snapshot 88f9c909b05c7590.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preparation: the rules every value follows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compare anything, the same rules apply everywhere.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12140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05740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rules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97480"/>
            <a:ext cx="311901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location ID + UTC timestamp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expected hour appears exactly once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requested fields kept, including typed nulls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stores request metadata and a checksum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vs. grid coordinates and elevation kept separately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07738" y="178308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6338" y="2011680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066" y="212140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30698" y="205740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rule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627778" y="2697480"/>
            <a:ext cx="2936138" cy="548640"/>
          </a:xfrm>
          <a:prstGeom prst="roundRect">
            <a:avLst>
              <a:gd name="adj" fmla="val 13333"/>
            </a:avLst>
          </a:prstGeom>
          <a:solidFill>
            <a:srgbClr val="0E1A2B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27778" y="2697480"/>
            <a:ext cx="29361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non-null hours for this variable?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361813" y="3264408"/>
            <a:ext cx="914" cy="393192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917966" y="3264408"/>
            <a:ext cx="914" cy="393192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0" name="Text 16"/>
          <p:cNvSpPr txBox="1"/>
          <p:nvPr/>
        </p:nvSpPr>
        <p:spPr>
          <a:xfrm>
            <a:off x="5416677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972830" y="33192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27778" y="3703320"/>
            <a:ext cx="1702960" cy="2286000"/>
          </a:xfrm>
          <a:prstGeom prst="roundRect">
            <a:avLst>
              <a:gd name="adj" fmla="val 4296"/>
            </a:avLst>
          </a:prstGeom>
          <a:solidFill>
            <a:srgbClr val="0E1A2B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64938" y="3813048"/>
            <a:ext cx="1428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daily value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→ sum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other continuous measures → mean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codes, wind direction → separate methods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477546" y="3703320"/>
            <a:ext cx="1086371" cy="2286000"/>
          </a:xfrm>
          <a:prstGeom prst="roundRect">
            <a:avLst>
              <a:gd name="adj" fmla="val 6734"/>
            </a:avLst>
          </a:prstGeom>
          <a:solidFill>
            <a:srgbClr val="0E1A2B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587274" y="3813048"/>
            <a:ext cx="8669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stays null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hours never look like low rainfall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8066837" y="1783080"/>
            <a:ext cx="3576218" cy="4434840"/>
          </a:xfrm>
          <a:prstGeom prst="roundRect">
            <a:avLst>
              <a:gd name="adj" fmla="val 2046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95437" y="2011680"/>
            <a:ext cx="457200" cy="45720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165" y="2121408"/>
            <a:ext cx="237744" cy="237744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889797" y="2057400"/>
            <a:ext cx="25703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rules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8295437" y="2697480"/>
            <a:ext cx="311901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 must fit the question: calendar seasons are not monsoon periods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years are flagged; 2026 is not a complete year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Seasonal, annual and rolling measures carry explicit denominators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totals and means are reported with their coverage counts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fair comparison window, and proof the data is clean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uneven across sites, so we compared all 100 sites over the dates they share.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9659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09659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33319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3319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6978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56978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0637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0637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04297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04297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27956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227956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551615" y="1920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551615" y="2130552"/>
            <a:ext cx="914" cy="960120"/>
          </a:xfrm>
          <a:prstGeom prst="line">
            <a:avLst/>
          </a:prstGeom>
          <a:noFill/>
          <a:ln w="6350">
            <a:solidFill>
              <a:srgbClr val="2B42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2221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Sri Lankan sites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6791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regional sites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240280"/>
            <a:ext cx="8824395" cy="237744"/>
          </a:xfrm>
          <a:prstGeom prst="roundRect">
            <a:avLst>
              <a:gd name="adj" fmla="val 19231"/>
            </a:avLst>
          </a:prstGeom>
          <a:solidFill>
            <a:srgbClr val="6B7480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77440" y="2240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full historical years, then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558871" y="2697480"/>
            <a:ext cx="551525" cy="237744"/>
          </a:xfrm>
          <a:prstGeom prst="roundRect">
            <a:avLst>
              <a:gd name="adj" fmla="val 19231"/>
            </a:avLst>
          </a:prstGeom>
          <a:solidFill>
            <a:srgbClr val="6B7480"/>
          </a:solidFill>
          <a:ln w="12700">
            <a:solidFill>
              <a:srgbClr val="6B748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58671" y="269748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Apr / May 2026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683682" y="2148840"/>
            <a:ext cx="426714" cy="914400"/>
          </a:xfrm>
          <a:prstGeom prst="rect">
            <a:avLst/>
          </a:prstGeom>
          <a:solidFill>
            <a:srgbClr val="8FB4DA">
              <a:alpha val="40000"/>
            </a:srgbClr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57602" y="297180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window: 5 May–31 Aug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429000"/>
            <a:ext cx="1591056" cy="896112"/>
          </a:xfrm>
          <a:prstGeom prst="roundRect">
            <a:avLst>
              <a:gd name="adj" fmla="val 81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566160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948745"/>
            <a:ext cx="122529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all fully covered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304288" y="3429000"/>
            <a:ext cx="1591056" cy="896112"/>
          </a:xfrm>
          <a:prstGeom prst="roundRect">
            <a:avLst>
              <a:gd name="adj" fmla="val 81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487168" y="3566160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2487168" y="3948745"/>
            <a:ext cx="122529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UTC days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453128"/>
            <a:ext cx="1591056" cy="896112"/>
          </a:xfrm>
          <a:prstGeom prst="roundRect">
            <a:avLst>
              <a:gd name="adj" fmla="val 81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4590288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285,600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972873"/>
            <a:ext cx="122529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rows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304288" y="4453128"/>
            <a:ext cx="1591056" cy="896112"/>
          </a:xfrm>
          <a:prstGeom prst="roundRect">
            <a:avLst>
              <a:gd name="adj" fmla="val 816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487168" y="4590288"/>
            <a:ext cx="122529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11,900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2487168" y="4972873"/>
            <a:ext cx="1225296" cy="32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location-days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59936" y="34290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242816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samples, same dates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242816" y="3886200"/>
            <a:ext cx="2377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sites: 100, 3–4,321 m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Lanka: 30, 3–2,500 m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Coastal: 6, 3–10 m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Jaffna, Batticaloa, Trincomalee, Colombo, Matara, Galle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" y="55046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core variables have 24 valid hours per location-day, and every site counts equally.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03720" y="3429000"/>
            <a:ext cx="4739335" cy="2788920"/>
          </a:xfrm>
          <a:prstGeom prst="roundRect">
            <a:avLst>
              <a:gd name="adj" fmla="val 2623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32320" y="3566160"/>
            <a:ext cx="4282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results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132320" y="3931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8778240" y="3931920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location–timestamp keys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7132320" y="4379976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1,230,960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8778240" y="4379976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kept after the metadata join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7132320" y="48280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/ 0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8778240" y="4828032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plausibility screens / rows removed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7132320" y="52760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−8.0 to 40.7°C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8778240" y="5276088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range; pressure down to 599.8 hPa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7132320" y="57241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1,606 / 4,567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8778240" y="5724144"/>
            <a:ext cx="2636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snowfall / snow depth, kept as valid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Temperature: a 24.77°C gap between sites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common window, how warm, humid, windy and wet were the sites?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22.80°C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1611"/>
            <a:ext cx="2651760" cy="3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hourly temperature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770632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07792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83.11%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269163"/>
            <a:ext cx="2651760" cy="3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relative humidity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95344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2.47 m/s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256715"/>
            <a:ext cx="2651760" cy="3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wind speed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745736"/>
            <a:ext cx="3017520" cy="859536"/>
          </a:xfrm>
          <a:prstGeom prst="roundRect">
            <a:avLst>
              <a:gd name="adj" fmla="val 85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882896"/>
            <a:ext cx="26517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8.53 mm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244267"/>
            <a:ext cx="2651760" cy="309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rainfall (0.356 mm/h)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across all 100 sites, 5 May–31 Aug 2026. Not national or annual climate averages.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0" y="1783080"/>
            <a:ext cx="7802575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21" name="Chart 0" descr=""/>
          <p:cNvGraphicFramePr/>
          <p:nvPr/>
        </p:nvGraphicFramePr>
        <p:xfrm>
          <a:off x="4023360" y="1874520"/>
          <a:ext cx="48463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9"/>
          <p:cNvSpPr/>
          <p:nvPr/>
        </p:nvSpPr>
        <p:spPr>
          <a:xfrm>
            <a:off x="9052560" y="2148840"/>
            <a:ext cx="2407615" cy="3749040"/>
          </a:xfrm>
          <a:prstGeom prst="roundRect">
            <a:avLst>
              <a:gd name="adj" fmla="val 3038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35440" y="233172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≈24.77°C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2880360"/>
            <a:ext cx="2041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 warmest and coolest site means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235440" y="3657600"/>
            <a:ext cx="2041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235440" y="3931920"/>
            <a:ext cx="2041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warmest sites are lowland South Indian and eastern Sri Lankan cities. The coolest are Himalayan sites above 4,200 m. That points straight at elevation.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and wind vary just as strongly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rain most, and where was it windiest?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10048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33008" y="1783080"/>
            <a:ext cx="5410048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731520" y="1874520"/>
          <a:ext cx="504428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22960" y="4937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sites each recorded more than 3,100 mm in only 119 days.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5778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totals for the observed period, not annual figures.</a:t>
            </a:r>
            <a:endParaRPr lang="en-US" sz="11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415888" y="1874520"/>
          <a:ext cx="504428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07328" y="4937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and eastern Sri Lanka form the highest-wind group, at about 2.5–3× the all-site mean.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07328" y="5577840"/>
            <a:ext cx="486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Jaffna 7.92, Mannar 7.79, Trincomalee 6.21 m/s.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Countries and months tell different stories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country follow the same seasonal pattern? No.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760720" cy="3520440"/>
          </a:xfrm>
          <a:prstGeom prst="roundRect">
            <a:avLst>
              <a:gd name="adj" fmla="val 2078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32232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PLACEHOLDER — TEMPERATURE &amp; MEAN DAILY RAINFALL BY COUNTRY]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890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img/replicated_country_weather.png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bars weight each sampled site equally. They are not national estimates.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783080"/>
            <a:ext cx="5150815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6675120" y="1874520"/>
          <a:ext cx="4785055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766560" y="4663440"/>
            <a:ext cx="46021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Bhutan warms by 3.46°C while Cambodia cools by 1.85°C over the same months.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5257800"/>
            <a:ext cx="4602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months cannot show a full seasonal cycle, and Sri Lankan monsoon labels should not be applied to every country.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is the strongest temperature signal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is higher really cooler, and does it depend on which sites we look at?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9202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−0.981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correlation, elevation vs. site mean temperature, all 100 sites. Spearman's rank correlation: −0.943.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640080"/>
                <a:gridCol w="1188720"/>
                <a:gridCol w="100584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(m)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regional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3–4,321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 × 10⁻⁷¹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 Lanka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3–2,500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8.20 × 10⁻¹⁸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2B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669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are exploratory and ignore spatial dependence.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1783080"/>
            <a:ext cx="5333695" cy="2331720"/>
          </a:xfrm>
          <a:prstGeom prst="roundRect">
            <a:avLst>
              <a:gd name="adj" fmla="val 313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6446520" y="1828800"/>
          <a:ext cx="5059375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 txBox="1"/>
          <p:nvPr/>
        </p:nvSpPr>
        <p:spPr>
          <a:xfrm>
            <a:off x="6309360" y="4224528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flips for the coastal sites because they span only 7 m, too little to show the relationship.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823960" y="4224528"/>
            <a:ext cx="2819095" cy="2011680"/>
          </a:xfrm>
          <a:prstGeom prst="roundRect">
            <a:avLst>
              <a:gd name="adj" fmla="val 3636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16" name="Text 12"/>
          <p:cNvSpPr txBox="1"/>
          <p:nvPr/>
        </p:nvSpPr>
        <p:spPr>
          <a:xfrm>
            <a:off x="9098280" y="4910328"/>
            <a:ext cx="2270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PLACEHOLDER — SCATTER]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098280" y="5276088"/>
            <a:ext cx="2270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the project scatter figure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temperature, the relationships are less consistent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elevation also explain rainfall and wind, and how does latitude compare?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675120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31520" y="1874520"/>
          <a:ext cx="63093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6"/>
          <p:cNvSpPr/>
          <p:nvPr/>
        </p:nvSpPr>
        <p:spPr>
          <a:xfrm>
            <a:off x="7498080" y="1783080"/>
            <a:ext cx="4144975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680960" y="189280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flips sign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680960" y="219456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−0.315 regionally, +0.425 in Sri Lanka. Elevation is stronger in both samples.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498080" y="2880360"/>
            <a:ext cx="4144975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80960" y="299008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moderate, then weak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680960" y="329184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+0.337 regionally (p = 0.000607), +0.285 in Sri Lanka (p = 0.126).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3977640"/>
            <a:ext cx="4144975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4087368"/>
            <a:ext cx="3779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Wind: negative in both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4389120"/>
            <a:ext cx="3779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−0.506 regionally and −0.531 in Sri Lanka.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98080" y="5120640"/>
            <a:ext cx="4144975" cy="1143000"/>
          </a:xfrm>
          <a:prstGeom prst="roundRect">
            <a:avLst>
              <a:gd name="adj" fmla="val 6400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0" y="5212080"/>
            <a:ext cx="3779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law: exposure, geography, season and site choice still matter for rainfall and wind.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approach: what we used and why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turn 285,600 hourly rows into answers?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200400"/>
                <a:gridCol w="2697480"/>
                <a:gridCol w="25420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we used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output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Complete-day aggregation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contributions per site; missing hours can't pose as low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sites compare fairly?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285,600 → 11,900 rows (24× fewer)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and Spearman correlation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and rank-based association on site 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elevation linked to temperature, rain, wind?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−0.981 / ρ = −0.943 (temperature)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 sensitivity (100 / 30 / 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dates, different elevation ranges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result depend on site choice?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r = +0.685, p = 0.133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Kruskal–Wallis 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differences among many sites without assuming normality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locations really differ?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11,322.14 (temp), 4,650.22 (rain)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reconciliation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processing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the rules give the same outputs?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across engines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235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562356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Kruskal–Wallis p-values underflow to zero: very small, not literally zero. None of these tests account for spatial or temporal dependence, and none identify a cause.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years of coastal Sri Lanka: the southwest is wetter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complete history for six coastal sites, what do full years show?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731520" y="187452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6"/>
          <p:cNvSpPr/>
          <p:nvPr/>
        </p:nvSpPr>
        <p:spPr>
          <a:xfrm>
            <a:off x="7589520" y="1783080"/>
            <a:ext cx="4053535" cy="1005840"/>
          </a:xfrm>
          <a:prstGeom prst="roundRect">
            <a:avLst>
              <a:gd name="adj" fmla="val 727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0" y="1920240"/>
            <a:ext cx="3687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2366467"/>
            <a:ext cx="368777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location-years, 2020–2025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589520" y="2926080"/>
            <a:ext cx="4053535" cy="1417320"/>
          </a:xfrm>
          <a:prstGeom prst="roundRect">
            <a:avLst>
              <a:gd name="adj" fmla="val 5161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0" y="3017520"/>
            <a:ext cx="3687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1.75–1.84×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0" y="3611880"/>
            <a:ext cx="3687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rain in Galle and Colombo than in Jaffna and Trincomalee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89520" y="4480560"/>
            <a:ext cx="4053535" cy="1783080"/>
          </a:xfrm>
          <a:prstGeom prst="roundRect">
            <a:avLst>
              <a:gd name="adj" fmla="val 410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0" y="457200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27.02 to 27.75°C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5029200"/>
            <a:ext cx="3687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six-site annual mean temperature (2022 lowest, 2024 highest). The sequence does not rise steadily, so no warming trend is claimed.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big data analytics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5 Vs does the project really show? We only claim what the data supports.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72579" cy="3611880"/>
          </a:xfrm>
          <a:prstGeom prst="roundRect">
            <a:avLst>
              <a:gd name="adj" fmla="val 3530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9" y="2104949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49808" y="260604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9808" y="30632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E3B4C"/>
          </a:solidFill>
          <a:ln w="6350">
            <a:solidFill>
              <a:srgbClr val="6B74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520440"/>
            <a:ext cx="170681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1,230,960 hourly rows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1,901 files, ≈154.7 MB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runs on one machine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804099" y="1783080"/>
            <a:ext cx="2072579" cy="3611880"/>
          </a:xfrm>
          <a:prstGeom prst="roundRect">
            <a:avLst>
              <a:gd name="adj" fmla="val 3530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05267" y="1984248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968" y="2104949"/>
            <a:ext cx="261518" cy="26151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005267" y="260604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3005267" y="30632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2E3B4C"/>
          </a:solidFill>
          <a:ln w="6350">
            <a:solidFill>
              <a:srgbClr val="6B748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005267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005267" y="3520440"/>
            <a:ext cx="170681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Backwards-in-time backfill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observations added as released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retrieval planned; no live streaming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059558" y="1783080"/>
            <a:ext cx="2072579" cy="3611880"/>
          </a:xfrm>
          <a:prstGeom prst="roundRect">
            <a:avLst>
              <a:gd name="adj" fmla="val 3530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60726" y="1984248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427" y="2104949"/>
            <a:ext cx="261518" cy="26151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260726" y="260604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Variety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5260726" y="30632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4F79A6"/>
          </a:solidFill>
          <a:ln w="6350">
            <a:solidFill>
              <a:srgbClr val="8FB4DA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5260726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260726" y="3520440"/>
            <a:ext cx="170681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variables in 8 groups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location + elevation sources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categorical and directional data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315017" y="1783080"/>
            <a:ext cx="2072579" cy="3611880"/>
          </a:xfrm>
          <a:prstGeom prst="roundRect">
            <a:avLst>
              <a:gd name="adj" fmla="val 3530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516185" y="1984248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6886" y="2104949"/>
            <a:ext cx="261518" cy="26151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516185" y="260604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Veracity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7516185" y="30632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4F79A6"/>
          </a:solidFill>
          <a:ln w="6350">
            <a:solidFill>
              <a:srgbClr val="8FB4D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516185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7516185" y="3520440"/>
            <a:ext cx="170681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Checksums and duplicate checks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plausibility screens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counts; reanalysis = model estimates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9570476" y="1783080"/>
            <a:ext cx="2072579" cy="3611880"/>
          </a:xfrm>
          <a:prstGeom prst="roundRect">
            <a:avLst>
              <a:gd name="adj" fmla="val 3530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771644" y="1984248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2345" y="2104949"/>
            <a:ext cx="261518" cy="26151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9771644" y="260604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9771644" y="306324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4F79A6"/>
          </a:solidFill>
          <a:ln w="6350">
            <a:solidFill>
              <a:srgbClr val="8FB4DA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9771644" y="30632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9771644" y="3520440"/>
            <a:ext cx="170681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elevation–temperature finding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dashboard for exploration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Ask weather</a:t>
            </a:r>
            <a:endParaRPr lang="en-US" sz="1150" dirty="0"/>
          </a:p>
        </p:txBody>
      </p:sp>
      <p:sp>
        <p:nvSpPr>
          <p:cNvPr id="42" name="Shape 35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77240" y="557784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agreement with Spark shows consistent results across engines, not that the current volume needs a cluster. Snowflake was chosen for team use, managed operations and independent compute scaling, not row count alone.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Analysis &amp; findings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we learn?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analysis into six evidence-based insights.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  <a:gridCol w="37764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B4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3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−0.981 (100 sites), −0.965 (Sri Lanka)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sites are much cooler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is the clearest temperature signal in this reanalysis 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r = +0.685, p = 0.133, over 7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little height range to see the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Correlations depend on which sites are chosen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r = +0.337 / +0.285; wind −0.506 / −0.531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and less consistent than temperature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universal elevation rule for rain or wind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Galle 2,770.9 vs. Jaffna 1,502.7 mm per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Southwest coast gets 1.75–1.84× more 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rainfall contrast within one small country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= 11,322.14 (temp), 4,650.22 (rain); 24.77°C spread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Sites differ substantially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Site-level comparison matters more than pooled averages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duplicates, 0 rows removed, Spark agrees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pipeline is consistent and verifiable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8DC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Findings rest on checked, reproducible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B4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are descriptive associations in reanalysis data, not causal laws or evidence of long-term climate change.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we technically build the solution?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architecture, the tools, resumable ingestion, and the two user interfaces.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545336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2–5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441448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4414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569464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898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465576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F3350"/>
          </a:solidFill>
          <a:ln w="19050">
            <a:solidFill>
              <a:srgbClr val="8FB4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346557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5935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9227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489704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44897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6177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946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26–30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project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API to dashboard, with a loop back for missing data.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1109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40" y="2003268"/>
            <a:ext cx="199705" cy="199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15568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23500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ERA5-Seamless source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50592" y="226314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53614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63342" y="191109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13" y="2003268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20542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scheduler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981630" y="23500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shared quota ledger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5566" y="226314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58588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68316" y="191109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487" y="2003268"/>
            <a:ext cx="199705" cy="19970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725516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files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286604" y="23500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+ provenance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060540" y="226314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63561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A9B0B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73289" y="191109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461" y="2003268"/>
            <a:ext cx="199705" cy="19970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030489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RAW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591577" y="23500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ingestion metadata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365513" y="226314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9768535" y="17830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A9B0B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9878263" y="191109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0435" y="2003268"/>
            <a:ext cx="199705" cy="199705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335463" y="189280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models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896551" y="23500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+ intermediate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10705795" y="2770632"/>
            <a:ext cx="914" cy="630936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2853614" y="34290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6B7480"/>
            </a:solidFill>
            <a:prstDash val="dash"/>
          </a:ln>
        </p:spPr>
      </p:sp>
      <p:sp>
        <p:nvSpPr>
          <p:cNvPr id="38" name="Shape 31"/>
          <p:cNvSpPr/>
          <p:nvPr/>
        </p:nvSpPr>
        <p:spPr>
          <a:xfrm>
            <a:off x="2963342" y="355701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5513" y="3649188"/>
            <a:ext cx="199705" cy="199705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420542" y="3538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request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2981630" y="399592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back to scheduler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158588" y="34290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5268316" y="355701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487" y="3649188"/>
            <a:ext cx="199705" cy="19970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5725516" y="3538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5286604" y="399592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Ask weather page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7463561" y="34290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7573289" y="355701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65461" y="3649188"/>
            <a:ext cx="199705" cy="199705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8030489" y="3538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</a:t>
            </a:r>
            <a:endParaRPr lang="en-US" sz="1200" dirty="0"/>
          </a:p>
        </p:txBody>
      </p:sp>
      <p:sp>
        <p:nvSpPr>
          <p:cNvPr id="51" name="Text 41"/>
          <p:cNvSpPr txBox="1"/>
          <p:nvPr/>
        </p:nvSpPr>
        <p:spPr>
          <a:xfrm>
            <a:off x="7591577" y="399592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coverage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9768535" y="34290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16263D"/>
          </a:solidFill>
          <a:ln w="9525">
            <a:solidFill>
              <a:srgbClr val="A9B0B8"/>
            </a:solidFill>
            <a:prstDash val="solid"/>
          </a:ln>
        </p:spPr>
      </p:sp>
      <p:sp>
        <p:nvSpPr>
          <p:cNvPr id="53" name="Shape 43"/>
          <p:cNvSpPr/>
          <p:nvPr/>
        </p:nvSpPr>
        <p:spPr>
          <a:xfrm>
            <a:off x="9878263" y="3557016"/>
            <a:ext cx="384048" cy="38404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54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70435" y="3649188"/>
            <a:ext cx="199705" cy="199705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10335463" y="35387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tables &amp; views</a:t>
            </a:r>
            <a:endParaRPr lang="en-US" sz="1200" dirty="0"/>
          </a:p>
        </p:txBody>
      </p:sp>
      <p:sp>
        <p:nvSpPr>
          <p:cNvPr id="56" name="Text 45"/>
          <p:cNvSpPr txBox="1"/>
          <p:nvPr/>
        </p:nvSpPr>
        <p:spPr>
          <a:xfrm>
            <a:off x="9896551" y="399592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analysis-ready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 flipH="1">
            <a:off x="9365513" y="390906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 flipH="1">
            <a:off x="7060540" y="390906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 flipH="1">
            <a:off x="4755566" y="3909060"/>
            <a:ext cx="37559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 flipV="1">
            <a:off x="3562274" y="2770632"/>
            <a:ext cx="914" cy="630936"/>
          </a:xfrm>
          <a:prstGeom prst="line">
            <a:avLst/>
          </a:prstGeom>
          <a:noFill/>
          <a:ln w="19050">
            <a:solidFill>
              <a:srgbClr val="6B7480"/>
            </a:solidFill>
            <a:prstDash val="dash"/>
            <a:tailEnd type="triangle"/>
          </a:ln>
        </p:spPr>
      </p:sp>
      <p:sp>
        <p:nvSpPr>
          <p:cNvPr id="61" name="Shape 50"/>
          <p:cNvSpPr/>
          <p:nvPr/>
        </p:nvSpPr>
        <p:spPr>
          <a:xfrm>
            <a:off x="548640" y="464515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16263D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1005840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prototype</a:t>
            </a:r>
            <a:endParaRPr lang="en-US" sz="1050" dirty="0"/>
          </a:p>
        </p:txBody>
      </p:sp>
      <p:sp>
        <p:nvSpPr>
          <p:cNvPr id="63" name="Shape 52"/>
          <p:cNvSpPr/>
          <p:nvPr/>
        </p:nvSpPr>
        <p:spPr>
          <a:xfrm>
            <a:off x="3291840" y="464515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16263D"/>
          </a:solidFill>
          <a:ln w="15875">
            <a:solidFill>
              <a:srgbClr val="A9B0B8"/>
            </a:solidFill>
            <a:prstDash val="solid"/>
          </a:ln>
        </p:spPr>
      </p:sp>
      <p:sp>
        <p:nvSpPr>
          <p:cNvPr id="64" name="Text 53"/>
          <p:cNvSpPr txBox="1"/>
          <p:nvPr/>
        </p:nvSpPr>
        <p:spPr>
          <a:xfrm>
            <a:off x="3749040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Designed, simulated locally</a:t>
            </a:r>
            <a:endParaRPr lang="en-US" sz="1050" dirty="0"/>
          </a:p>
        </p:txBody>
      </p:sp>
      <p:sp>
        <p:nvSpPr>
          <p:cNvPr id="65" name="Shape 54"/>
          <p:cNvSpPr/>
          <p:nvPr/>
        </p:nvSpPr>
        <p:spPr>
          <a:xfrm>
            <a:off x="6035040" y="464515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16263D"/>
          </a:solidFill>
          <a:ln w="15875">
            <a:solidFill>
              <a:srgbClr val="6B7480"/>
            </a:solidFill>
            <a:prstDash val="dash"/>
          </a:ln>
        </p:spPr>
      </p:sp>
      <p:sp>
        <p:nvSpPr>
          <p:cNvPr id="66" name="Text 55"/>
          <p:cNvSpPr txBox="1"/>
          <p:nvPr/>
        </p:nvSpPr>
        <p:spPr>
          <a:xfrm>
            <a:off x="6492240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not yet built</a:t>
            </a:r>
            <a:endParaRPr lang="en-US" sz="1050" dirty="0"/>
          </a:p>
        </p:txBody>
      </p:sp>
      <p:sp>
        <p:nvSpPr>
          <p:cNvPr id="67" name="Shape 56"/>
          <p:cNvSpPr/>
          <p:nvPr/>
        </p:nvSpPr>
        <p:spPr>
          <a:xfrm>
            <a:off x="548640" y="507492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68" name="Text 57"/>
          <p:cNvSpPr txBox="1"/>
          <p:nvPr/>
        </p:nvSpPr>
        <p:spPr>
          <a:xfrm>
            <a:off x="777240" y="5193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 (local prototype)</a:t>
            </a:r>
            <a:endParaRPr lang="en-US" sz="1250" dirty="0"/>
          </a:p>
        </p:txBody>
      </p:sp>
      <p:sp>
        <p:nvSpPr>
          <p:cNvPr id="69" name="Shape 58"/>
          <p:cNvSpPr/>
          <p:nvPr/>
        </p:nvSpPr>
        <p:spPr>
          <a:xfrm>
            <a:off x="777240" y="55778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777240" y="5577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files</a:t>
            </a:r>
            <a:endParaRPr lang="en-US" sz="1100" dirty="0"/>
          </a:p>
        </p:txBody>
      </p:sp>
      <p:sp>
        <p:nvSpPr>
          <p:cNvPr id="71" name="Shape 60"/>
          <p:cNvSpPr/>
          <p:nvPr/>
        </p:nvSpPr>
        <p:spPr>
          <a:xfrm>
            <a:off x="2121408" y="5797296"/>
            <a:ext cx="256032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72" name="Shape 61"/>
          <p:cNvSpPr/>
          <p:nvPr/>
        </p:nvSpPr>
        <p:spPr>
          <a:xfrm>
            <a:off x="2395728" y="5577840"/>
            <a:ext cx="3063240" cy="438912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3" name="Text 62"/>
          <p:cNvSpPr txBox="1"/>
          <p:nvPr/>
        </p:nvSpPr>
        <p:spPr>
          <a:xfrm>
            <a:off x="2395728" y="557784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PySpark processing &amp; validation</a:t>
            </a:r>
            <a:endParaRPr lang="en-US" sz="1100" dirty="0"/>
          </a:p>
        </p:txBody>
      </p:sp>
      <p:sp>
        <p:nvSpPr>
          <p:cNvPr id="74" name="Shape 63"/>
          <p:cNvSpPr/>
          <p:nvPr/>
        </p:nvSpPr>
        <p:spPr>
          <a:xfrm>
            <a:off x="5477256" y="5797296"/>
            <a:ext cx="256032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75" name="Shape 64"/>
          <p:cNvSpPr/>
          <p:nvPr/>
        </p:nvSpPr>
        <p:spPr>
          <a:xfrm>
            <a:off x="5751576" y="5577840"/>
            <a:ext cx="1325880" cy="438912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6" name="Text 65"/>
          <p:cNvSpPr txBox="1"/>
          <p:nvPr/>
        </p:nvSpPr>
        <p:spPr>
          <a:xfrm>
            <a:off x="5751576" y="557784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queries</a:t>
            </a:r>
            <a:endParaRPr lang="en-US" sz="1100" dirty="0"/>
          </a:p>
        </p:txBody>
      </p:sp>
      <p:sp>
        <p:nvSpPr>
          <p:cNvPr id="77" name="Shape 66"/>
          <p:cNvSpPr/>
          <p:nvPr/>
        </p:nvSpPr>
        <p:spPr>
          <a:xfrm>
            <a:off x="7095744" y="5797296"/>
            <a:ext cx="256032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78" name="Shape 67"/>
          <p:cNvSpPr/>
          <p:nvPr/>
        </p:nvSpPr>
        <p:spPr>
          <a:xfrm>
            <a:off x="7370064" y="5577840"/>
            <a:ext cx="1005840" cy="438912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9" name="Text 68"/>
          <p:cNvSpPr txBox="1"/>
          <p:nvPr/>
        </p:nvSpPr>
        <p:spPr>
          <a:xfrm>
            <a:off x="7370064" y="55778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80" name="Shape 69"/>
          <p:cNvSpPr/>
          <p:nvPr/>
        </p:nvSpPr>
        <p:spPr>
          <a:xfrm>
            <a:off x="8394192" y="5797296"/>
            <a:ext cx="256032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81" name="Shape 70"/>
          <p:cNvSpPr/>
          <p:nvPr/>
        </p:nvSpPr>
        <p:spPr>
          <a:xfrm>
            <a:off x="8668512" y="557784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82" name="Text 71"/>
          <p:cNvSpPr txBox="1"/>
          <p:nvPr/>
        </p:nvSpPr>
        <p:spPr>
          <a:xfrm>
            <a:off x="8668512" y="55778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deck.gl map  ·  Ask weather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and warehouse design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tools did we use, and how is the warehouse layered?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5623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1" y="1952793"/>
            <a:ext cx="209215" cy="20921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7830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7830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historical API · Copernicus GLO-90 elevation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49631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1" y="2592873"/>
            <a:ext cx="209215" cy="20921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PySpark (with Java) · Apache Arrow · Parquet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306324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13639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41" y="3232953"/>
            <a:ext cx="209215" cy="20921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(design)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2926080" y="306324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· dbt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370332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080" y="377647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1" y="3873033"/>
            <a:ext cx="209215" cy="20921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3703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2926080" y="37033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434340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441655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41" y="4513113"/>
            <a:ext cx="209215" cy="20921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188720" y="4343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2926080" y="434340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TypeScript · deck.gl · Streamlit dashboard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48640" y="498348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40080" y="505663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41" y="5153193"/>
            <a:ext cx="209215" cy="20921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18872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2926080" y="4983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ChatGPT sign-in, or OpenAI API mode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48640" y="5623560"/>
            <a:ext cx="5852160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40080" y="5696712"/>
            <a:ext cx="402336" cy="402336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641" y="5793273"/>
            <a:ext cx="209215" cy="20921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188720" y="5623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50" dirty="0"/>
          </a:p>
        </p:txBody>
      </p:sp>
      <p:sp>
        <p:nvSpPr>
          <p:cNvPr id="41" name="Text 32"/>
          <p:cNvSpPr txBox="1"/>
          <p:nvPr/>
        </p:nvSpPr>
        <p:spPr>
          <a:xfrm>
            <a:off x="2926080" y="56235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targets for install, plan, ingest and explore</a:t>
            </a:r>
            <a:endParaRPr lang="en-US" sz="1150" dirty="0"/>
          </a:p>
        </p:txBody>
      </p:sp>
      <p:sp>
        <p:nvSpPr>
          <p:cNvPr id="42" name="Text 33"/>
          <p:cNvSpPr txBox="1"/>
          <p:nvPr/>
        </p:nvSpPr>
        <p:spPr>
          <a:xfrm>
            <a:off x="6675120" y="178308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layers (Snowflake + dbt)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7004304" y="2148840"/>
            <a:ext cx="4309567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7141464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8558784" y="2148840"/>
            <a:ext cx="2617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observations + ingestion provenance</a:t>
            </a:r>
            <a:endParaRPr lang="en-US" sz="1050" dirty="0"/>
          </a:p>
        </p:txBody>
      </p:sp>
      <p:sp>
        <p:nvSpPr>
          <p:cNvPr id="46" name="Shape 37"/>
          <p:cNvSpPr/>
          <p:nvPr/>
        </p:nvSpPr>
        <p:spPr>
          <a:xfrm>
            <a:off x="6894576" y="2807208"/>
            <a:ext cx="4529023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7031736" y="2807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200" dirty="0"/>
          </a:p>
        </p:txBody>
      </p:sp>
      <p:sp>
        <p:nvSpPr>
          <p:cNvPr id="48" name="Text 39"/>
          <p:cNvSpPr txBox="1"/>
          <p:nvPr/>
        </p:nvSpPr>
        <p:spPr>
          <a:xfrm>
            <a:off x="8449056" y="2807208"/>
            <a:ext cx="283738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names, types and timestamps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6784848" y="3465576"/>
            <a:ext cx="4748479" cy="548640"/>
          </a:xfrm>
          <a:prstGeom prst="roundRect">
            <a:avLst>
              <a:gd name="adj" fmla="val 13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6922008" y="34655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339328" y="3465576"/>
            <a:ext cx="3056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location/elevation; time and geography dimensions</a:t>
            </a:r>
            <a:endParaRPr lang="en-US" sz="1050" dirty="0"/>
          </a:p>
        </p:txBody>
      </p:sp>
      <p:sp>
        <p:nvSpPr>
          <p:cNvPr id="52" name="Shape 43"/>
          <p:cNvSpPr/>
          <p:nvPr/>
        </p:nvSpPr>
        <p:spPr>
          <a:xfrm>
            <a:off x="6675120" y="4123944"/>
            <a:ext cx="4967935" cy="548640"/>
          </a:xfrm>
          <a:prstGeom prst="roundRect">
            <a:avLst>
              <a:gd name="adj" fmla="val 13333"/>
            </a:avLst>
          </a:prstGeom>
          <a:solidFill>
            <a:srgbClr val="1F3350"/>
          </a:solidFill>
          <a:ln w="9525">
            <a:solidFill>
              <a:srgbClr val="8FB4DA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6812280" y="412394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</a:t>
            </a:r>
            <a:endParaRPr lang="en-US" sz="1200" dirty="0"/>
          </a:p>
        </p:txBody>
      </p:sp>
      <p:sp>
        <p:nvSpPr>
          <p:cNvPr id="54" name="Text 45"/>
          <p:cNvSpPr txBox="1"/>
          <p:nvPr/>
        </p:nvSpPr>
        <p:spPr>
          <a:xfrm>
            <a:off x="8229600" y="4123944"/>
            <a:ext cx="3276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Complete-day rule; daily metrics, summaries, coverage</a:t>
            </a:r>
            <a:endParaRPr lang="en-US" sz="1050" dirty="0"/>
          </a:p>
        </p:txBody>
      </p:sp>
      <p:sp>
        <p:nvSpPr>
          <p:cNvPr id="55" name="Shape 46"/>
          <p:cNvSpPr/>
          <p:nvPr/>
        </p:nvSpPr>
        <p:spPr>
          <a:xfrm>
            <a:off x="6675120" y="4846320"/>
            <a:ext cx="4967935" cy="1417320"/>
          </a:xfrm>
          <a:prstGeom prst="roundRect">
            <a:avLst>
              <a:gd name="adj" fmla="val 516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6858000" y="4937760"/>
            <a:ext cx="4602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Snowflake and dbt</a:t>
            </a:r>
            <a:endParaRPr lang="en-US" sz="1200" dirty="0"/>
          </a:p>
        </p:txBody>
      </p:sp>
      <p:sp>
        <p:nvSpPr>
          <p:cNvPr id="57" name="Text 48"/>
          <p:cNvSpPr txBox="1"/>
          <p:nvPr/>
        </p:nvSpPr>
        <p:spPr>
          <a:xfrm>
            <a:off x="6858000" y="5212080"/>
            <a:ext cx="46021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Snowflake: managed storage, separate scalable compute, SQL fits filters and windows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dbt: modular, tested, documented models; one shared complete-day rule</a:t>
            </a:r>
            <a:endParaRPr lang="en-US" sz="10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cloud dependence, cost, role admin, extra config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Resumable ingestion: newest data first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download years of hourly data under an API limit?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order: whole week across all sites, then step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417320" y="246888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907792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3346704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3785616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17320" y="4224528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466344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02536" y="246888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02536" y="2907792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02536" y="3346704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02536" y="3785616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2536" y="4224528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2536" y="466344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02536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87752" y="246888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87752" y="2907792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87752" y="3346704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87752" y="3785616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87752" y="4224528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87752" y="466344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87752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246888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72968" y="2907792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72968" y="3346704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72968" y="3785616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2968" y="4224528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72968" y="466344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172968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58184" y="246888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58184" y="2907792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58184" y="3346704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58184" y="3785616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58184" y="4224528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184" y="4663440"/>
            <a:ext cx="512064" cy="384048"/>
          </a:xfrm>
          <a:prstGeom prst="rect">
            <a:avLst/>
          </a:prstGeom>
          <a:solidFill>
            <a:srgbClr val="1F3350">
              <a:alpha val="80000"/>
            </a:srgbClr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58184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2468880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43400" y="2907792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3346704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43400" y="3785616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343400" y="4224528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43400" y="4663440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343400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28616" y="2468880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28616" y="2907792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28616" y="3346704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28616" y="3785616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28616" y="4224528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28616" y="4663440"/>
            <a:ext cx="512064" cy="384048"/>
          </a:xfrm>
          <a:prstGeom prst="rect">
            <a:avLst/>
          </a:prstGeom>
          <a:solidFill>
            <a:srgbClr val="4F79A6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28616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13832" y="2468880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13832" y="2907792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513832" y="3346704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13832" y="3785616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13832" y="4224528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13832" y="4663440"/>
            <a:ext cx="512064" cy="384048"/>
          </a:xfrm>
          <a:prstGeom prst="rect">
            <a:avLst/>
          </a:prstGeom>
          <a:solidFill>
            <a:srgbClr val="8FB4DA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513832" y="512064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731520" y="3749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 flipH="1">
            <a:off x="1417320" y="5468112"/>
            <a:ext cx="4590288" cy="914"/>
          </a:xfrm>
          <a:prstGeom prst="line">
            <a:avLst/>
          </a:prstGeom>
          <a:noFill/>
          <a:ln w="15875">
            <a:solidFill>
              <a:srgbClr val="A9B0B8"/>
            </a:solidFill>
            <a:prstDash val="solid"/>
            <a:tailEnd type="triangle"/>
          </a:ln>
        </p:spPr>
      </p:sp>
      <p:sp>
        <p:nvSpPr>
          <p:cNvPr id="67" name="Text 65"/>
          <p:cNvSpPr txBox="1"/>
          <p:nvPr/>
        </p:nvSpPr>
        <p:spPr>
          <a:xfrm>
            <a:off x="1417320" y="554126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 ←  7-day windows  ←  31 Aug 2026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777240" y="58064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broad geographic coverage early, instead of finishing every year for one site first.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6675120" y="1783080"/>
            <a:ext cx="4967935" cy="804672"/>
          </a:xfrm>
          <a:prstGeom prst="roundRect">
            <a:avLst>
              <a:gd name="adj" fmla="val 909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12280" y="196596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7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619" y="2071299"/>
            <a:ext cx="228234" cy="228234"/>
          </a:xfrm>
          <a:prstGeom prst="rect">
            <a:avLst/>
          </a:prstGeom>
        </p:spPr>
      </p:pic>
      <p:sp>
        <p:nvSpPr>
          <p:cNvPr id="72" name="Text 69"/>
          <p:cNvSpPr txBox="1"/>
          <p:nvPr/>
        </p:nvSpPr>
        <p:spPr>
          <a:xfrm>
            <a:off x="7406640" y="18562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everything</a:t>
            </a:r>
            <a:endParaRPr lang="en-US" sz="1250" dirty="0"/>
          </a:p>
        </p:txBody>
      </p:sp>
      <p:sp>
        <p:nvSpPr>
          <p:cNvPr id="73" name="Text 70"/>
          <p:cNvSpPr txBox="1"/>
          <p:nvPr/>
        </p:nvSpPr>
        <p:spPr>
          <a:xfrm>
            <a:off x="7406640" y="2130552"/>
            <a:ext cx="4053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config, completed chunks, request windows, timestamps, checksums, quota use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6675120" y="2697480"/>
            <a:ext cx="4967935" cy="804672"/>
          </a:xfrm>
          <a:prstGeom prst="roundRect">
            <a:avLst>
              <a:gd name="adj" fmla="val 909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812280" y="288036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7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619" y="2985699"/>
            <a:ext cx="228234" cy="228234"/>
          </a:xfrm>
          <a:prstGeom prst="rect">
            <a:avLst/>
          </a:prstGeom>
        </p:spPr>
      </p:pic>
      <p:sp>
        <p:nvSpPr>
          <p:cNvPr id="77" name="Text 73"/>
          <p:cNvSpPr txBox="1"/>
          <p:nvPr/>
        </p:nvSpPr>
        <p:spPr>
          <a:xfrm>
            <a:off x="7406640" y="27706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writes</a:t>
            </a:r>
            <a:endParaRPr lang="en-US" sz="1250" dirty="0"/>
          </a:p>
        </p:txBody>
      </p:sp>
      <p:sp>
        <p:nvSpPr>
          <p:cNvPr id="78" name="Text 74"/>
          <p:cNvSpPr txBox="1"/>
          <p:nvPr/>
        </p:nvSpPr>
        <p:spPr>
          <a:xfrm>
            <a:off x="7406640" y="3044952"/>
            <a:ext cx="4053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writes separate in-flight data from committed checkpoints; one writer per study</a:t>
            </a:r>
            <a:endParaRPr lang="en-US" sz="1050" dirty="0"/>
          </a:p>
        </p:txBody>
      </p:sp>
      <p:sp>
        <p:nvSpPr>
          <p:cNvPr id="79" name="Shape 75"/>
          <p:cNvSpPr/>
          <p:nvPr/>
        </p:nvSpPr>
        <p:spPr>
          <a:xfrm>
            <a:off x="6675120" y="3611880"/>
            <a:ext cx="4967935" cy="804672"/>
          </a:xfrm>
          <a:prstGeom prst="roundRect">
            <a:avLst>
              <a:gd name="adj" fmla="val 909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6812280" y="379476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8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619" y="3900099"/>
            <a:ext cx="228234" cy="228234"/>
          </a:xfrm>
          <a:prstGeom prst="rect">
            <a:avLst/>
          </a:prstGeom>
        </p:spPr>
      </p:pic>
      <p:sp>
        <p:nvSpPr>
          <p:cNvPr id="82" name="Text 77"/>
          <p:cNvSpPr txBox="1"/>
          <p:nvPr/>
        </p:nvSpPr>
        <p:spPr>
          <a:xfrm>
            <a:off x="7406640" y="36850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quota ledger</a:t>
            </a:r>
            <a:endParaRPr lang="en-US" sz="1250" dirty="0"/>
          </a:p>
        </p:txBody>
      </p:sp>
      <p:sp>
        <p:nvSpPr>
          <p:cNvPr id="83" name="Text 78"/>
          <p:cNvSpPr txBox="1"/>
          <p:nvPr/>
        </p:nvSpPr>
        <p:spPr>
          <a:xfrm>
            <a:off x="7406640" y="3959352"/>
            <a:ext cx="4053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weighted request costs; moves with the dataset to another computer</a:t>
            </a:r>
            <a:endParaRPr lang="en-US" sz="1050" dirty="0"/>
          </a:p>
        </p:txBody>
      </p:sp>
      <p:sp>
        <p:nvSpPr>
          <p:cNvPr id="84" name="Shape 79"/>
          <p:cNvSpPr/>
          <p:nvPr/>
        </p:nvSpPr>
        <p:spPr>
          <a:xfrm>
            <a:off x="6675120" y="4526280"/>
            <a:ext cx="4967935" cy="804672"/>
          </a:xfrm>
          <a:prstGeom prst="roundRect">
            <a:avLst>
              <a:gd name="adj" fmla="val 909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5" name="Shape 80"/>
          <p:cNvSpPr/>
          <p:nvPr/>
        </p:nvSpPr>
        <p:spPr>
          <a:xfrm>
            <a:off x="6812280" y="470916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8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619" y="4814499"/>
            <a:ext cx="228234" cy="228234"/>
          </a:xfrm>
          <a:prstGeom prst="rect">
            <a:avLst/>
          </a:prstGeom>
        </p:spPr>
      </p:pic>
      <p:sp>
        <p:nvSpPr>
          <p:cNvPr id="87" name="Text 81"/>
          <p:cNvSpPr txBox="1"/>
          <p:nvPr/>
        </p:nvSpPr>
        <p:spPr>
          <a:xfrm>
            <a:off x="7406640" y="45994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windows</a:t>
            </a:r>
            <a:endParaRPr lang="en-US" sz="1250" dirty="0"/>
          </a:p>
        </p:txBody>
      </p:sp>
      <p:sp>
        <p:nvSpPr>
          <p:cNvPr id="88" name="Text 82"/>
          <p:cNvSpPr txBox="1"/>
          <p:nvPr/>
        </p:nvSpPr>
        <p:spPr>
          <a:xfrm>
            <a:off x="7406640" y="4873752"/>
            <a:ext cx="4053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at year boundaries; verified legacy annual files reused without overlap</a:t>
            </a:r>
            <a:endParaRPr lang="en-US" sz="1050" dirty="0"/>
          </a:p>
        </p:txBody>
      </p:sp>
      <p:sp>
        <p:nvSpPr>
          <p:cNvPr id="89" name="Shape 83"/>
          <p:cNvSpPr/>
          <p:nvPr/>
        </p:nvSpPr>
        <p:spPr>
          <a:xfrm>
            <a:off x="6675120" y="5440680"/>
            <a:ext cx="4967935" cy="804672"/>
          </a:xfrm>
          <a:prstGeom prst="roundRect">
            <a:avLst>
              <a:gd name="adj" fmla="val 909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>
            <a:off x="6812280" y="562356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619" y="5728899"/>
            <a:ext cx="228234" cy="228234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7406640" y="5513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1250" dirty="0"/>
          </a:p>
        </p:txBody>
      </p:sp>
      <p:sp>
        <p:nvSpPr>
          <p:cNvPr id="93" name="Text 86"/>
          <p:cNvSpPr txBox="1"/>
          <p:nvPr/>
        </p:nvSpPr>
        <p:spPr>
          <a:xfrm>
            <a:off x="7406640" y="5788152"/>
            <a:ext cx="4053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source data is never saved as an empty checkpoint or mistaken for a quota pause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dashboard: exploring weather on terrain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user actually see the data?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22960" y="37033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PLACEHOLDER — DASHBOARD SCREENSHOT]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690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img/dashboard.jpeg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06640" y="1783080"/>
            <a:ext cx="4236415" cy="1371600"/>
          </a:xfrm>
          <a:prstGeom prst="roundRect">
            <a:avLst>
              <a:gd name="adj" fmla="val 5333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187452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controls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2167128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weather feature, country, date range, Load weather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rotate, zoom; select a site to see its history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slider and playback over the loaded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3300984"/>
            <a:ext cx="4236415" cy="1371600"/>
          </a:xfrm>
          <a:prstGeom prst="roundRect">
            <a:avLst>
              <a:gd name="adj" fmla="val 5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39242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map encodes data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685032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= elevation; colour = selected feature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interpolated on terrain tiles are visual estimates, not new data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colour scale per window, so changes are comparable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0" y="4818888"/>
            <a:ext cx="4236415" cy="1371600"/>
          </a:xfrm>
          <a:prstGeom prst="roundRect">
            <a:avLst>
              <a:gd name="adj" fmla="val 533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491032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lifecycle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202936"/>
            <a:ext cx="3870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to 100 sites and 93 days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newer request cancels the older one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stay missing, never zero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Coverage-aware, on-demand ingestion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data a user wants isn't downloaded yet?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783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feature, sites, dates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783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783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committed coverage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709928"/>
            <a:ext cx="1600200" cy="804672"/>
          </a:xfrm>
          <a:prstGeom prst="diamond">
            <a:avLst/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709928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783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1783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visualise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76272" y="2112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96512" y="2112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16752" y="2112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035040" y="18288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28803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62272" y="288036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missing work, quota and wait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89220" y="2532888"/>
            <a:ext cx="914" cy="320040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5262372" y="255117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288036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542032" y="288036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fewer sites or a shorter 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4096512" y="320954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89120" y="397764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62272" y="397764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Download missing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89220" y="3566160"/>
            <a:ext cx="914" cy="384048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89220" y="4636008"/>
            <a:ext cx="914" cy="288036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48740" y="4924044"/>
            <a:ext cx="3840480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48740" y="4924044"/>
            <a:ext cx="914" cy="26060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5212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" y="5212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ingestion queue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76272" y="5541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468880" y="5212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542032" y="5212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quota or source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96512" y="5541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389120" y="5212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462272" y="5212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validate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16752" y="5541264"/>
            <a:ext cx="265176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309360" y="5212080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382512" y="5212080"/>
            <a:ext cx="1453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data and cache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 flipV="1">
            <a:off x="7109460" y="2468880"/>
            <a:ext cx="914" cy="2715768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183880" y="1783080"/>
            <a:ext cx="3459175" cy="384048"/>
          </a:xfrm>
          <a:prstGeom prst="roundRect">
            <a:avLst>
              <a:gd name="adj" fmla="val 19048"/>
            </a:avLst>
          </a:prstGeom>
          <a:solidFill>
            <a:srgbClr val="2E3B4C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8183880" y="1783080"/>
            <a:ext cx="3459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required, not yet implemented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183880" y="2331720"/>
            <a:ext cx="3459175" cy="3931920"/>
          </a:xfrm>
          <a:prstGeom prst="roundRect">
            <a:avLst>
              <a:gd name="adj" fmla="val 2115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366760" y="2450592"/>
            <a:ext cx="3093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8366760" y="2788920"/>
            <a:ext cx="309341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only the missing work; reuse checkpoints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requests or competing writers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requests stay queued with a retry time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data stays viewable while waiting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source delay and quota limits separately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must come from real coverage and quota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refresh: update coverage, clear stale cache, rerun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Project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weather: plain-English questions, checked answers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someone without SQL still ask the data a question?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50" y="2021190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in plain English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221992" y="2587752"/>
            <a:ext cx="188915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438339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75499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449" y="2021190"/>
            <a:ext cx="218724" cy="2187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75499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context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2575499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units, sites, coverage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111691" y="2587752"/>
            <a:ext cx="188915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4328038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65198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148" y="2021190"/>
            <a:ext cx="218724" cy="21872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65198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465198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 restricted plan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001390" y="2587752"/>
            <a:ext cx="188915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217737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54897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847" y="2021190"/>
            <a:ext cx="218724" cy="2187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54897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354897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checks the plan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891089" y="2587752"/>
            <a:ext cx="188915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107436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244596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5546" y="2021190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244596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Allowlisted query</a:t>
            </a:r>
            <a:endParaRPr lang="en-US" sz="1250" dirty="0"/>
          </a:p>
        </p:txBody>
      </p:sp>
      <p:sp>
        <p:nvSpPr>
          <p:cNvPr id="35" name="Text 28"/>
          <p:cNvSpPr txBox="1"/>
          <p:nvPr/>
        </p:nvSpPr>
        <p:spPr>
          <a:xfrm>
            <a:off x="8244596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run by Spark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9780788" y="2587752"/>
            <a:ext cx="188915" cy="914"/>
          </a:xfrm>
          <a:prstGeom prst="line">
            <a:avLst/>
          </a:prstGeom>
          <a:noFill/>
          <a:ln w="19050">
            <a:solidFill>
              <a:srgbClr val="8FB4DA"/>
            </a:solidFill>
            <a:prstDash val="solid"/>
            <a:tailEnd type="triangle"/>
          </a:ln>
        </p:spPr>
      </p:sp>
      <p:sp>
        <p:nvSpPr>
          <p:cNvPr id="37" name="Shape 30"/>
          <p:cNvSpPr/>
          <p:nvPr/>
        </p:nvSpPr>
        <p:spPr>
          <a:xfrm>
            <a:off x="9997135" y="1783080"/>
            <a:ext cx="1645920" cy="1600200"/>
          </a:xfrm>
          <a:prstGeom prst="roundRect">
            <a:avLst>
              <a:gd name="adj" fmla="val 4571"/>
            </a:avLst>
          </a:prstGeom>
          <a:solidFill>
            <a:srgbClr val="1F3350"/>
          </a:solidFill>
          <a:ln w="12700">
            <a:solidFill>
              <a:srgbClr val="8FB4DA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10134295" y="1920240"/>
            <a:ext cx="420624" cy="420624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5245" y="2021190"/>
            <a:ext cx="218724" cy="218724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134295" y="24414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10134295" y="272491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Chart, summary, table, coverage, exact query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548640" y="3611880"/>
            <a:ext cx="5852160" cy="2651760"/>
          </a:xfrm>
          <a:prstGeom prst="roundRect">
            <a:avLst>
              <a:gd name="adj" fmla="val 2759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43" name="Text 35"/>
          <p:cNvSpPr txBox="1"/>
          <p:nvPr/>
        </p:nvSpPr>
        <p:spPr>
          <a:xfrm>
            <a:off x="822960" y="4617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PLACEHOLDER — ASK WEATHER SCREENSHOT]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822960" y="4983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img/askweather.png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675120" y="3611880"/>
            <a:ext cx="2392528" cy="2651760"/>
          </a:xfrm>
          <a:prstGeom prst="roundRect">
            <a:avLst>
              <a:gd name="adj" fmla="val 3058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6858000" y="3721608"/>
            <a:ext cx="202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supports</a:t>
            </a:r>
            <a:endParaRPr lang="en-US" sz="1250" dirty="0"/>
          </a:p>
        </p:txBody>
      </p:sp>
      <p:sp>
        <p:nvSpPr>
          <p:cNvPr id="47" name="Text 39"/>
          <p:cNvSpPr txBox="1"/>
          <p:nvPr/>
        </p:nvSpPr>
        <p:spPr>
          <a:xfrm>
            <a:off x="6858000" y="4041648"/>
            <a:ext cx="20267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feature, ≤100 sites, ≤366 days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trends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or country comparisons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scatter plots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totals by site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9250528" y="3611880"/>
            <a:ext cx="2392528" cy="2651760"/>
          </a:xfrm>
          <a:prstGeom prst="roundRect">
            <a:avLst>
              <a:gd name="adj" fmla="val 3058"/>
            </a:avLst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9433408" y="3721608"/>
            <a:ext cx="2026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250" dirty="0"/>
          </a:p>
        </p:txBody>
      </p:sp>
      <p:sp>
        <p:nvSpPr>
          <p:cNvPr id="50" name="Text 42"/>
          <p:cNvSpPr txBox="1"/>
          <p:nvPr/>
        </p:nvSpPr>
        <p:spPr>
          <a:xfrm>
            <a:off x="9433408" y="4041648"/>
            <a:ext cx="202676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runs model-written Python or SQL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catalogue, not a vector index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units and coverage limits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claims from associations</a:t>
            </a:r>
            <a:endParaRPr lang="en-US" sz="11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stay server-side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thoughts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audience take away?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what the work enables, next steps, and the one thing to remember.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417320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0956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95360" y="1545336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18745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2–5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2441448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09560" y="2441448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0" y="2569464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2898648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6–18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3465576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6263D">
              <a:alpha val="70000"/>
            </a:srgbClr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909560" y="3465576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7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3593592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92277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19–25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4489704"/>
            <a:ext cx="3959352" cy="822960"/>
          </a:xfrm>
          <a:prstGeom prst="roundRect">
            <a:avLst>
              <a:gd name="adj" fmla="val 8889"/>
            </a:avLst>
          </a:prstGeom>
          <a:solidFill>
            <a:srgbClr val="1F3350"/>
          </a:solidFill>
          <a:ln w="19050">
            <a:solidFill>
              <a:srgbClr val="8FB4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09560" y="4489704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46177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thoughts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4946904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26–30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Final thoughts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limitations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held us back, and what the results cannot claim.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68296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17" y="2482413"/>
            <a:ext cx="247254" cy="24725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325880" y="22402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trial credits ran out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2514600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$400 of free credit was not enough for the MVP, so we simulated Snowflake and dbt locally with Parquet, PySpark and versioned release metadata.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3182112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401568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17" y="3515685"/>
            <a:ext cx="247254" cy="24725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25880" y="3273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limits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3547872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Full-history requests were impractical and risky, so ingestion moved to newest-first, with history fetched on demand.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215384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4434840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17" y="4548957"/>
            <a:ext cx="247254" cy="24725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25880" y="4306824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recent data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1325880" y="4581144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Unavailable reanalysis must not be saved as empty or confused with a quota pause.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48640" y="5248656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5468112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917" y="5582229"/>
            <a:ext cx="247254" cy="24725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25880" y="5340096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integration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325880" y="5614416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integration and coverage-aware retrieval are still outstanding.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6233008" y="1737360"/>
            <a:ext cx="541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analytical limitations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233008" y="2148840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370168" y="2368296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285" y="2482413"/>
            <a:ext cx="247254" cy="24725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010248" y="2240280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Reanalysis downscaling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7010248" y="2514600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uses elevation, so part of the temperature pattern may come from how the data is built.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233008" y="3182112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70168" y="3401568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4285" y="3515685"/>
            <a:ext cx="247254" cy="24725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010248" y="3273552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Selected-site bias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7010248" y="3547872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were chosen on purpose; country summaries are not national averages.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233008" y="4215384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370168" y="4434840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4285" y="4548957"/>
            <a:ext cx="247254" cy="247254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010248" y="4306824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in space and time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7010248" y="4581144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are exploratory; no causal claims.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6233008" y="5248656"/>
            <a:ext cx="5410048" cy="932688"/>
          </a:xfrm>
          <a:prstGeom prst="roundRect">
            <a:avLst>
              <a:gd name="adj" fmla="val 7843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370168" y="5468112"/>
            <a:ext cx="475488" cy="475488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4285" y="5582229"/>
            <a:ext cx="247254" cy="247254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010248" y="5340096"/>
            <a:ext cx="444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common window</a:t>
            </a:r>
            <a:endParaRPr lang="en-US" sz="1300" dirty="0"/>
          </a:p>
        </p:txBody>
      </p:sp>
      <p:sp>
        <p:nvSpPr>
          <p:cNvPr id="48" name="Text 38"/>
          <p:cNvSpPr txBox="1"/>
          <p:nvPr/>
        </p:nvSpPr>
        <p:spPr>
          <a:xfrm>
            <a:off x="7010248" y="5614416"/>
            <a:ext cx="444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 days is a partial season; history is uneven outside the matched panel. Local timings are not Snowflake benchmarks.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Final thoughts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next steps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work is useful now, and what would make it stronger.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373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enables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79" y="2254179"/>
            <a:ext cx="228234" cy="22823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4300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weather across 100 sites and heights on one interactive map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52344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979" y="2857683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2752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weather questions in plain English, with the exact query shown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55848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9" y="3461187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33558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regional contrasts, such as southwest vs. northeast Sri Lanka rainfall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3959352"/>
            <a:ext cx="438912" cy="438912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79" y="4064691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959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results from fingerprints, hashes and saved versions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663440"/>
            <a:ext cx="5120640" cy="1600200"/>
          </a:xfrm>
          <a:prstGeom prst="roundRect">
            <a:avLst>
              <a:gd name="adj" fmla="val 4571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21" name="Text 15"/>
          <p:cNvSpPr txBox="1"/>
          <p:nvPr/>
        </p:nvSpPr>
        <p:spPr>
          <a:xfrm>
            <a:off x="822960" y="51435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PLACEHOLDER — REAL-WORLD APPLICATION]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989320" y="1737360"/>
            <a:ext cx="5653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989320" y="2148840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172200" y="2276856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warehouse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172200" y="2651760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loading, dbt models and tests, then reconcile with the local reference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907628" y="2148840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9090508" y="2276856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on-demand retrieval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90508" y="2651760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checks, feasible suggestions and Download missing data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989320" y="3538728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172200" y="3666744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query adapter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172200" y="4041648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warehouse path for Ask weather, replacing local Spark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8907628" y="3538728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9090508" y="3666744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history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9090508" y="4041648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 uneven sites for a longer common window and full seasons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989320" y="4928616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172200" y="5056632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performance and cost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172200" y="5431536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vs. uncached runs; costs from measured loads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907628" y="4928616"/>
            <a:ext cx="2735428" cy="1261872"/>
          </a:xfrm>
          <a:prstGeom prst="roundRect">
            <a:avLst>
              <a:gd name="adj" fmla="val 5797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9090508" y="5056632"/>
            <a:ext cx="236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deployment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9090508" y="5431536"/>
            <a:ext cx="23696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roles, secrets outside code, auto-suspend,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F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Final thoughts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takeaway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data, analysis, findings and architecture: the whole story in three lines.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&amp; Elevation Analysis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76218" cy="2514600"/>
          </a:xfrm>
          <a:prstGeom prst="roundRect">
            <a:avLst>
              <a:gd name="adj" fmla="val 290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0866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17320" y="2011680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65176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resumable pipeline for 1,230,960 hourly rows at 100 sites, with a map dashboard and plain-English analysis on top.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07738" y="1783080"/>
            <a:ext cx="3576218" cy="2514600"/>
          </a:xfrm>
          <a:prstGeom prst="roundRect">
            <a:avLst>
              <a:gd name="adj" fmla="val 290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36338" y="1965960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039" y="208666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76418" y="2011680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discovered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536338" y="265176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strongly with elevation (r = −0.981). Rain and wind vary less consistently. Southwest Sri Lanka gets 1.75–1.84× the rain of the northeast.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8066837" y="1783080"/>
            <a:ext cx="3576218" cy="2514600"/>
          </a:xfrm>
          <a:prstGeom prst="roundRect">
            <a:avLst>
              <a:gd name="adj" fmla="val 2909"/>
            </a:avLst>
          </a:prstGeom>
          <a:solidFill>
            <a:srgbClr val="16263D"/>
          </a:solidFill>
          <a:ln w="9525">
            <a:solidFill>
              <a:srgbClr val="2B42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95437" y="1965960"/>
            <a:ext cx="502920" cy="502920"/>
          </a:xfrm>
          <a:prstGeom prst="ellipse">
            <a:avLst/>
          </a:prstGeom>
          <a:solidFill>
            <a:srgbClr val="1F3350"/>
          </a:solidFill>
          <a:ln w="9525">
            <a:solidFill>
              <a:srgbClr val="2B426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138" y="20866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935517" y="2011680"/>
            <a:ext cx="25703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95437" y="2651760"/>
            <a:ext cx="311901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checks and consistent rules make weather comparisons across places trustworthy and reproducible.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457200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F3350"/>
          </a:solidFill>
          <a:ln w="15875">
            <a:solidFill>
              <a:srgbClr val="8FB4D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005840" y="4572000"/>
            <a:ext cx="101800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Fair, verified comparisons come first. With them, elevation stands out as the clearest temperature signal across 100 sites.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1089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8FB4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8D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Weather and Elevation Analysis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sites  ·  13 countries  ·  1,230,960 hourly rows  ·  47 variables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members]   ·   [Contact]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12280" y="822960"/>
            <a:ext cx="4828032" cy="5349240"/>
          </a:xfrm>
          <a:prstGeom prst="roundRect">
            <a:avLst>
              <a:gd name="adj" fmla="val 1515"/>
            </a:avLst>
          </a:prstGeom>
          <a:solidFill>
            <a:srgbClr val="132236"/>
          </a:solidFill>
          <a:ln w="12700">
            <a:solidFill>
              <a:srgbClr val="6B748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7086600" y="3177540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[IMAGE PLACEHOLDER — FINAL PROJECT VISUAL]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Weather &amp; Elevation Analysis</dc:title>
  <dc:subject>PptxGenJS Presentation</dc:subject>
  <dc:creator>PptxGenJS</dc:creator>
  <cp:lastModifiedBy>PptxGenJS</cp:lastModifiedBy>
  <cp:revision>1</cp:revision>
  <dcterms:created xsi:type="dcterms:W3CDTF">2026-09-16T12:49:44Z</dcterms:created>
  <dcterms:modified xsi:type="dcterms:W3CDTF">2026-09-16T12:49:44Z</dcterms:modified>
</cp:coreProperties>
</file>